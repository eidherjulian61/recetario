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charts/chart1.xml" ContentType="application/vnd.openxmlformats-officedocument.drawingml.chart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Simulacro 1</c:v>
                </c:pt>
              </c:strCache>
            </c:strRef>
          </c:tx>
          <c:spPr>
            <a:solidFill>
              <a:srgbClr val="9EA2A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A4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Básicas</c:v>
                  </c:pt>
                  <c:pt idx="1">
                    <c:v>Funcionales</c:v>
                  </c:pt>
                  <c:pt idx="2">
                    <c:v>Comportamentales</c:v>
                  </c:pt>
                  <c:pt idx="3">
                    <c:v>Análisis de caso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68</c:v>
                </c:pt>
                <c:pt idx="1">
                  <c:v>71</c:v>
                </c:pt>
                <c:pt idx="2">
                  <c:v>80</c:v>
                </c:pt>
                <c:pt idx="3">
                  <c:v>70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Simulacro 2</c:v>
                </c:pt>
              </c:strCache>
            </c:strRef>
          </c:tx>
          <c:spPr>
            <a:solidFill>
              <a:srgbClr val="1B2A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A4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Básicas</c:v>
                  </c:pt>
                  <c:pt idx="1">
                    <c:v>Funcionales</c:v>
                  </c:pt>
                  <c:pt idx="2">
                    <c:v>Comportamentales</c:v>
                  </c:pt>
                  <c:pt idx="3">
                    <c:v>Análisis de caso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76</c:v>
                </c:pt>
                <c:pt idx="1">
                  <c:v>79</c:v>
                </c:pt>
                <c:pt idx="2">
                  <c:v>85</c:v>
                </c:pt>
                <c:pt idx="3">
                  <c:v>74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2A4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DD4C0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67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5F2EA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5C667A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PORTADA. Edite el título, subtítulo, docente, fecha y los datos de contacto. No mueva ni deforme el logo. Recuerde actualizar el pie de página una sola vez en Ver › Patrón de diapositivas.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AGENDA. Hasta 5 puntos. Si necesita más, duplique la diapositiva. Para cambiar la imagen: clic derecho › Cambiar imagen.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GUÍA DE TIPOGRAFÍA. Arial (títulos) y Calibri (textos) vienen instaladas en todos los equipos con Office, por lo que la plantilla se verá igual en cualquier computador. Esta diapositiva es de referencia: puede ocultarla antes de presentar.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GUÍA DE COLOR. Use únicamente estos tres colores y sus variaciones tonales. Para texto mostaza sobre fondo crema use la variante oscura #8A6A1F (mejor legibilidad). La mostaza base #C9A23F se reserva para acentos sobre fondos azules y para formas.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RETÍCULA Y LOGO. El logo, el número de diapositiva y el pie ya están en el patrón (Ver › Patrón de diapositivas), por eso no se mueven accidentalmente. Diseños disponibles al insertar una diapositiva nueva: MVPG_PORTADA, MVPG_CONTENIDO, MVPG_TEXTO, MVPG_OSCURO y MVPG_SECCION.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SEPARADOR DE SECCIÓN. Duplique esta diapositiva para cada bloque de la charla y cambie el número.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TABLA BÁSICA. Para añadir filas: clic en la última fila › Presentación (Diseño de tabla) › Insertar abajo. Mantenga encabezado azul y filas alternas crema.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TABLA AVANZADA con encabezado agrupado (celdas combinadas), resaltado del mejor valor en mostaza pálido y fila de totales. Si modifica los datos, recalcule manualmente el puntaje ponderado.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DIAGRAMA DE FLUJO. Formas nativas editables: píldora azul = inicio/fin, rectángulo = actividad, rombo mostaza = decisión. Para mover todo junto, seleccione las formas y agrúpelas (Ctrl+G).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ORGANIGRAMA. Tres niveles con colores jerárquicos: azul (dirección), mostaza (áreas) y crema (equipos). Para agregar un cargo, duplique una caja (Ctrl+D) y su conector.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PROCESO. El paso final se destaca en mostaza. Si usa menos pasos, elimine uno y reparta el espacio para mantener los márgenes de 0,6".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LÍNEA DE TIEMPO HORIZONTAL. El hito actual se marca con un círculo azul más grande; los demás en mostaza. Ideal para 4 a 6 hitos.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LÍNEA DE TIEMPO VERTICAL. Admite descripciones más largas. Para cambiar la imagen: clic derecho › Cambiar imagen.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GALERÍA DE TRES. Clic derecho sobre cada imagen › Cambiar imagen › Desde un archivo. La nueva imagen conserva el tamaño y la posición.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GALERÍA MOSAICO. Una imagen principal y cuatro secundarias. Reemplace con clic derecho › Cambiar imagen. Si la foto tiene otra proporción, use Recortar › Rellenar.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PUNTOS CLAVE CON ICONOS. Los iconos son imágenes: para cambiarlos use Insertar › Iconos y coloréelos en mostaza (#C9A23F) sobre el círculo azul.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LISTA CON VIÑETAS. Pulse Enter para nuevas viñetas. Para una lista a ancho completo inserte una diapositiva nueva con el diseño MVPG_TEXTO, que trae un marcador de texto listo. Use negrita para la idea inicial de cada punto.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COMPARATIVA DE DOS. La opción recomendada va a la derecha en azul. Mantenga el mismo número de puntos en ambas columnas.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COMPARATIVA DE TRES. La tarjeta central en azul con la etiqueta RECOMENDADO destaca la opción sugerida. Para destacar otra, intercambie los rellenos.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CITA DESTACADA. Máximo 30 palabras para que se lea de un vistazo. Cite siempre al autor y la fuente.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DATOS DESTACADOS. Cifras de ejemplo: reemplácelas por datos reales y cite la fuente en la nota. Máximo tres cifras por diapositiva.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DATO + GRÁFICO. El gráfico es nativo: clic derecho › Editar datos para cambiar los valores. Colores: azul oscuro para la serie principal y azul 40 % para la comparación.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CIERRE. Actualice los datos de contacto del docente. Los cuatro valores provienen de la identidad de MVPG.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VPG_PORTADA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VPG_CONTENIDO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" y="62636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Título de la charla  |  Nombre del docente</a:t>
            </a:r>
            <a:endParaRPr lang="en-US" sz="1000" dirty="0"/>
          </a:p>
        </p:txBody>
      </p:sp>
      <p:pic>
        <p:nvPicPr>
          <p:cNvPr id="3" name="Image 0" descr="/tmp/claude-0/-home-user-recetario/0dcb6c97-6a11-53d3-b186-0e5b69111646/scratchpad/logo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74375" y="6217920"/>
            <a:ext cx="868680" cy="407067"/>
          </a:xfrm>
          <a:prstGeom prst="rect">
            <a:avLst/>
          </a:prstGeom>
        </p:spPr>
      </p:pic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713232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Título de la diapositiva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26364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8A6A1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1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VPG_TEXTO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" y="62636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Título de la charla  |  Nombre del docente</a:t>
            </a:r>
            <a:endParaRPr lang="en-US" sz="1000" dirty="0"/>
          </a:p>
        </p:txBody>
      </p:sp>
      <p:pic>
        <p:nvPicPr>
          <p:cNvPr id="3" name="Image 0" descr="/tmp/claude-0/-home-user-recetario/0dcb6c97-6a11-53d3-b186-0e5b69111646/scratchpad/logo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74375" y="6217920"/>
            <a:ext cx="868680" cy="407067"/>
          </a:xfrm>
          <a:prstGeom prst="rect">
            <a:avLst/>
          </a:prstGeom>
        </p:spPr>
      </p:pic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713232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Título de la diapositiva</a:t>
            </a:r>
            <a:endParaRPr lang="en-US" sz="32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548640" y="1737360"/>
            <a:ext cx="11094415" cy="42062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26364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8A6A1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1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VPG_OSCURO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" y="62636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A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Título de la charla  |  Nombre del docente</a:t>
            </a:r>
            <a:endParaRPr lang="en-US" sz="1000" dirty="0"/>
          </a:p>
        </p:txBody>
      </p:sp>
      <p:pic>
        <p:nvPicPr>
          <p:cNvPr id="3" name="Image 0" descr="/tmp/claude-0/-home-user-recetario/0dcb6c97-6a11-53d3-b186-0e5b69111646/scratchpad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74375" y="6217920"/>
            <a:ext cx="868680" cy="407067"/>
          </a:xfrm>
          <a:prstGeom prst="rect">
            <a:avLst/>
          </a:prstGeom>
        </p:spPr>
      </p:pic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713232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200" b="1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Título de la diapositiva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26364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C9A23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1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VPG_SECCION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" y="62636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A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Título de la charla  |  Nombre del docente</a:t>
            </a:r>
            <a:endParaRPr lang="en-US" sz="1000" dirty="0"/>
          </a:p>
        </p:txBody>
      </p:sp>
      <p:pic>
        <p:nvPicPr>
          <p:cNvPr id="3" name="Image 0" descr="/tmp/claude-0/-home-user-recetario/0dcb6c97-6a11-53d3-b186-0e5b69111646/scratchpad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74375" y="6217920"/>
            <a:ext cx="868680" cy="407067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26364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C9A23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1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26364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8A6A1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1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image" Target="../media/image-18-7.png"/><Relationship Id="rId8" Type="http://schemas.openxmlformats.org/officeDocument/2006/relationships/image" Target="../media/image-18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image" Target="../media/image-19-7.png"/><Relationship Id="rId8" Type="http://schemas.openxmlformats.org/officeDocument/2006/relationships/image" Target="../media/image-19-8.png"/><Relationship Id="rId9" Type="http://schemas.openxmlformats.org/officeDocument/2006/relationships/image" Target="../media/image-19-9.png"/><Relationship Id="rId10" Type="http://schemas.openxmlformats.org/officeDocument/2006/relationships/slideLayout" Target="../slideLayouts/slideLayout3.xml"/><Relationship Id="rId11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recetario/0dcb6c97-6a11-53d3-b186-0e5b69111646/scratchpad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685800"/>
            <a:ext cx="3474720" cy="162826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31520" y="25146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MÉRITO VALOR PÚBLICO Y GESTIÓN</a:t>
            </a:r>
            <a:endParaRPr lang="en-US" sz="15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285292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E0C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Asesoría en procesos de selección por mérito público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370332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Título de la charla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452628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9EA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Subtítulo o tema central de la sesión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534924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9A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Nombre del docente   ·   Fecha   ·   Ciudad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412480" y="0"/>
            <a:ext cx="3779215" cy="6858000"/>
          </a:xfrm>
          <a:prstGeom prst="rect">
            <a:avLst/>
          </a:prstGeom>
          <a:solidFill>
            <a:srgbClr val="0F1A30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869680" y="731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CONTACTO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869680" y="1325880"/>
            <a:ext cx="502920" cy="502920"/>
          </a:xfrm>
          <a:prstGeom prst="ellipse">
            <a:avLst/>
          </a:prstGeom>
          <a:solidFill>
            <a:srgbClr val="C9A23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410" y="1451610"/>
            <a:ext cx="251460" cy="2514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9555480" y="130759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EA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Sitio web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9555480" y="15544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www.mvpg.com.co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869680" y="2194560"/>
            <a:ext cx="502920" cy="502920"/>
          </a:xfrm>
          <a:prstGeom prst="ellipse">
            <a:avLst/>
          </a:prstGeom>
          <a:solidFill>
            <a:srgbClr val="C9A23F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5410" y="2320290"/>
            <a:ext cx="251460" cy="2514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555480" y="217627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EA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Correo</a:t>
            </a:r>
            <a:endParaRPr lang="en-US" sz="1100" dirty="0"/>
          </a:p>
        </p:txBody>
      </p:sp>
      <p:sp>
        <p:nvSpPr>
          <p:cNvPr id="17" name="Text 12"/>
          <p:cNvSpPr txBox="1"/>
          <p:nvPr/>
        </p:nvSpPr>
        <p:spPr>
          <a:xfrm>
            <a:off x="9555480" y="242316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correo@dominio.com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8869680" y="3063240"/>
            <a:ext cx="502920" cy="502920"/>
          </a:xfrm>
          <a:prstGeom prst="ellipse">
            <a:avLst/>
          </a:prstGeom>
          <a:solidFill>
            <a:srgbClr val="C9A23F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5410" y="3188970"/>
            <a:ext cx="251460" cy="25146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9555480" y="304495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EA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Teléfono / WhatsApp</a:t>
            </a:r>
            <a:endParaRPr lang="en-US" sz="1100" dirty="0"/>
          </a:p>
        </p:txBody>
      </p:sp>
      <p:sp>
        <p:nvSpPr>
          <p:cNvPr id="21" name="Text 15"/>
          <p:cNvSpPr txBox="1"/>
          <p:nvPr/>
        </p:nvSpPr>
        <p:spPr>
          <a:xfrm>
            <a:off x="9555480" y="32918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+57 000 000 0000</a:t>
            </a:r>
            <a:endParaRPr lang="en-US" sz="1400" dirty="0"/>
          </a:p>
        </p:txBody>
      </p:sp>
      <p:sp>
        <p:nvSpPr>
          <p:cNvPr id="22" name="Shape 16"/>
          <p:cNvSpPr/>
          <p:nvPr/>
        </p:nvSpPr>
        <p:spPr>
          <a:xfrm>
            <a:off x="8869680" y="3931920"/>
            <a:ext cx="502920" cy="502920"/>
          </a:xfrm>
          <a:prstGeom prst="ellipse">
            <a:avLst/>
          </a:prstGeom>
          <a:solidFill>
            <a:srgbClr val="C9A23F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95410" y="4057650"/>
            <a:ext cx="251460" cy="25146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9555480" y="391363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EA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 sociales</a:t>
            </a:r>
            <a:endParaRPr lang="en-US" sz="1100" dirty="0"/>
          </a:p>
        </p:txBody>
      </p:sp>
      <p:sp>
        <p:nvSpPr>
          <p:cNvPr id="25" name="Text 18"/>
          <p:cNvSpPr txBox="1"/>
          <p:nvPr/>
        </p:nvSpPr>
        <p:spPr>
          <a:xfrm>
            <a:off x="9555480" y="416052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@usuario</a:t>
            </a:r>
            <a:endParaRPr lang="en-US" sz="1400" dirty="0"/>
          </a:p>
        </p:txBody>
      </p:sp>
      <p:sp>
        <p:nvSpPr>
          <p:cNvPr id="26" name="Shape 19"/>
          <p:cNvSpPr/>
          <p:nvPr/>
        </p:nvSpPr>
        <p:spPr>
          <a:xfrm>
            <a:off x="8869680" y="4800600"/>
            <a:ext cx="502920" cy="502920"/>
          </a:xfrm>
          <a:prstGeom prst="ellipse">
            <a:avLst/>
          </a:prstGeom>
          <a:solidFill>
            <a:srgbClr val="C9A23F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95410" y="4926330"/>
            <a:ext cx="251460" cy="251460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9555480" y="478231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EA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</a:t>
            </a:r>
            <a:endParaRPr lang="en-US" sz="1100" dirty="0"/>
          </a:p>
        </p:txBody>
      </p:sp>
      <p:sp>
        <p:nvSpPr>
          <p:cNvPr id="29" name="Text 21"/>
          <p:cNvSpPr txBox="1"/>
          <p:nvPr/>
        </p:nvSpPr>
        <p:spPr>
          <a:xfrm>
            <a:off x="9555480" y="50292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Dirección, ciudad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A6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1323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Contenido de la sesión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8A6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554480" y="1755648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214884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el mérito es la base del servicio público.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670048"/>
            <a:ext cx="6675120" cy="0"/>
          </a:xfrm>
          <a:prstGeom prst="line">
            <a:avLst/>
          </a:prstGeom>
          <a:noFill/>
          <a:ln w="9525">
            <a:solidFill>
              <a:srgbClr val="DDD4C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78892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8A6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1554480" y="2807208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Marco normativo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554480" y="320040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Reglas, entidades y etapas del concurso.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721608"/>
            <a:ext cx="6675120" cy="0"/>
          </a:xfrm>
          <a:prstGeom prst="line">
            <a:avLst/>
          </a:prstGeom>
          <a:noFill/>
          <a:ln w="9525">
            <a:solidFill>
              <a:srgbClr val="DDD4C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384048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8A6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1554480" y="3858768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Preparación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425196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Estrategias para pruebas y valoración de antecedentes.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4773168"/>
            <a:ext cx="6675120" cy="0"/>
          </a:xfrm>
          <a:prstGeom prst="line">
            <a:avLst/>
          </a:prstGeom>
          <a:noFill/>
          <a:ln w="9525">
            <a:solidFill>
              <a:srgbClr val="DDD4C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489204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8A6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4910328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Cierre y preguntas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554480" y="530352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 y espacio de diálogo.</a:t>
            </a:r>
            <a:endParaRPr lang="en-US" sz="14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1737360"/>
            <a:ext cx="3962095" cy="41605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26364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8A6A1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1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A6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GUÍA DE ESTILOS · 1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1323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Tipografía y jerarquía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4206240" cy="4160520"/>
          </a:xfrm>
          <a:prstGeom prst="roundRect">
            <a:avLst>
              <a:gd name="adj" fmla="val 1758"/>
            </a:avLst>
          </a:prstGeom>
          <a:solidFill>
            <a:srgbClr val="1B2A4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87452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0" b="1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</a:t>
            </a:r>
            <a:endParaRPr lang="en-US" sz="8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200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Arial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5661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EA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Títulos y etiquetas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EA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Negrita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2743200" y="187452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0" dirty="0">
                <a:solidFill>
                  <a:srgbClr val="E0C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</a:t>
            </a:r>
            <a:endParaRPr lang="en-US" sz="8800" dirty="0"/>
          </a:p>
        </p:txBody>
      </p:sp>
      <p:sp>
        <p:nvSpPr>
          <p:cNvPr id="9" name="Text 7"/>
          <p:cNvSpPr txBox="1"/>
          <p:nvPr/>
        </p:nvSpPr>
        <p:spPr>
          <a:xfrm>
            <a:off x="2743200" y="3200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Calibri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2743200" y="35661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EA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Textos y notas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EA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/ Negrita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38912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ABCDEFGHIJKLMNÑOPQRSTUVWXYZ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abcdefghijklmnñopqrstuvwxyz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0123456789  ¿? ¡! áéíóú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120640" y="1737360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A6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ETIQUETA DE SECCIÓN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9784080" y="1737360"/>
            <a:ext cx="1858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Arial Negrita · 12 pt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C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Mayúsculas · Mostaza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120640" y="2340864"/>
            <a:ext cx="6522415" cy="0"/>
          </a:xfrm>
          <a:prstGeom prst="line">
            <a:avLst/>
          </a:prstGeom>
          <a:noFill/>
          <a:ln w="9525">
            <a:solidFill>
              <a:srgbClr val="DDD4C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120640" y="237744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Título principal</a:t>
            </a:r>
            <a:endParaRPr lang="en-US" sz="3200" dirty="0"/>
          </a:p>
        </p:txBody>
      </p:sp>
      <p:sp>
        <p:nvSpPr>
          <p:cNvPr id="16" name="Text 14"/>
          <p:cNvSpPr txBox="1"/>
          <p:nvPr/>
        </p:nvSpPr>
        <p:spPr>
          <a:xfrm>
            <a:off x="9784080" y="2377440"/>
            <a:ext cx="18589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Arial Negrita · 32–40 pt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C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Azul oscuro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120640" y="3282696"/>
            <a:ext cx="6522415" cy="0"/>
          </a:xfrm>
          <a:prstGeom prst="line">
            <a:avLst/>
          </a:prstGeom>
          <a:noFill/>
          <a:ln w="9525">
            <a:solidFill>
              <a:srgbClr val="DDD4C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120640" y="3319272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Subtítulo de bloque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9784080" y="3319272"/>
            <a:ext cx="18589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Arial Negrita · 18–20 pt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C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Azul oscuro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120640" y="4087368"/>
            <a:ext cx="6522415" cy="0"/>
          </a:xfrm>
          <a:prstGeom prst="line">
            <a:avLst/>
          </a:prstGeom>
          <a:noFill/>
          <a:ln w="9525">
            <a:solidFill>
              <a:srgbClr val="DDD4C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120640" y="4123944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de párrafo para ideas y explicaciones.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9784080" y="4123944"/>
            <a:ext cx="18589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Calibri · 14–16 pt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C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Azul oscuro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120640" y="4892040"/>
            <a:ext cx="6522415" cy="0"/>
          </a:xfrm>
          <a:prstGeom prst="line">
            <a:avLst/>
          </a:prstGeom>
          <a:noFill/>
          <a:ln w="9525">
            <a:solidFill>
              <a:srgbClr val="DDD4C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120640" y="4928616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Notas, fuentes y pies de imagen.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9784080" y="4928616"/>
            <a:ext cx="18589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Calibri · 10–11 pt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C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Azul 70 %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120640" y="5532120"/>
            <a:ext cx="6522415" cy="0"/>
          </a:xfrm>
          <a:prstGeom prst="line">
            <a:avLst/>
          </a:prstGeom>
          <a:noFill/>
          <a:ln w="9525">
            <a:solidFill>
              <a:srgbClr val="DDD4C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120640" y="5751576"/>
            <a:ext cx="6522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Reglas: alinear textos a la izquierda (centrar solo títulos de portada y cierre) · máximo tres niveles por diapositiva · interlineado 1,1–1,2 · no usar cursiva en bloques largos.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26364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8A6A1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A6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GUÍA DE ESTILOS · 2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1323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Colores corporativos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484778" cy="1600200"/>
          </a:xfrm>
          <a:prstGeom prst="roundRect">
            <a:avLst>
              <a:gd name="adj" fmla="val 4571"/>
            </a:avLst>
          </a:prstGeom>
          <a:solidFill>
            <a:srgbClr val="1B2A4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697480"/>
            <a:ext cx="29361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Azul oscuro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474720"/>
            <a:ext cx="34847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HEX #1B2A4A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 27 · 42 · 74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59352"/>
            <a:ext cx="34847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Títulos, textos, fondos de portada y secciones.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4572000"/>
            <a:ext cx="802615" cy="457200"/>
          </a:xfrm>
          <a:prstGeom prst="roundRect">
            <a:avLst>
              <a:gd name="adj" fmla="val 16000"/>
            </a:avLst>
          </a:prstGeom>
          <a:solidFill>
            <a:srgbClr val="0F1A30"/>
          </a:solidFill>
          <a:ln w="9525">
            <a:solidFill>
              <a:srgbClr val="DDD4C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5074920"/>
            <a:ext cx="80261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C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#0F1A30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442695" y="4572000"/>
            <a:ext cx="802615" cy="457200"/>
          </a:xfrm>
          <a:prstGeom prst="roundRect">
            <a:avLst>
              <a:gd name="adj" fmla="val 16000"/>
            </a:avLst>
          </a:prstGeom>
          <a:solidFill>
            <a:srgbClr val="2D4270"/>
          </a:solidFill>
          <a:ln w="9525">
            <a:solidFill>
              <a:srgbClr val="DDD4C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442695" y="5074920"/>
            <a:ext cx="80261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C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#2D4270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336749" y="4572000"/>
            <a:ext cx="802615" cy="457200"/>
          </a:xfrm>
          <a:prstGeom prst="roundRect">
            <a:avLst>
              <a:gd name="adj" fmla="val 16000"/>
            </a:avLst>
          </a:prstGeom>
          <a:solidFill>
            <a:srgbClr val="5C667A"/>
          </a:solidFill>
          <a:ln w="9525">
            <a:solidFill>
              <a:srgbClr val="DDD4C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336749" y="5074920"/>
            <a:ext cx="80261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C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#5C667A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30804" y="4572000"/>
            <a:ext cx="802615" cy="457200"/>
          </a:xfrm>
          <a:prstGeom prst="roundRect">
            <a:avLst>
              <a:gd name="adj" fmla="val 16000"/>
            </a:avLst>
          </a:prstGeom>
          <a:solidFill>
            <a:srgbClr val="9EA2AA"/>
          </a:solidFill>
          <a:ln w="9525">
            <a:solidFill>
              <a:srgbClr val="DDD4C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230804" y="5074920"/>
            <a:ext cx="80261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C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#9EA2AA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353458" y="1737360"/>
            <a:ext cx="3484778" cy="1600200"/>
          </a:xfrm>
          <a:prstGeom prst="roundRect">
            <a:avLst>
              <a:gd name="adj" fmla="val 4571"/>
            </a:avLst>
          </a:prstGeom>
          <a:solidFill>
            <a:srgbClr val="C9A23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627778" y="2697480"/>
            <a:ext cx="29361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Mostaza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4353458" y="3474720"/>
            <a:ext cx="34847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HEX #C9A23F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 201 · 162 · 63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353458" y="3959352"/>
            <a:ext cx="34847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Acentos: etiquetas, números, iconos y datos clave.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353458" y="4572000"/>
            <a:ext cx="802615" cy="457200"/>
          </a:xfrm>
          <a:prstGeom prst="roundRect">
            <a:avLst>
              <a:gd name="adj" fmla="val 16000"/>
            </a:avLst>
          </a:prstGeom>
          <a:solidFill>
            <a:srgbClr val="8A6A1F"/>
          </a:solidFill>
          <a:ln w="9525">
            <a:solidFill>
              <a:srgbClr val="DDD4C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353458" y="5074920"/>
            <a:ext cx="80261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C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#8A6A1F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247513" y="4572000"/>
            <a:ext cx="802615" cy="457200"/>
          </a:xfrm>
          <a:prstGeom prst="roundRect">
            <a:avLst>
              <a:gd name="adj" fmla="val 16000"/>
            </a:avLst>
          </a:prstGeom>
          <a:solidFill>
            <a:srgbClr val="E0C06E"/>
          </a:solidFill>
          <a:ln w="9525">
            <a:solidFill>
              <a:srgbClr val="DDD4C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247513" y="5074920"/>
            <a:ext cx="80261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C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#E0C06E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141568" y="4572000"/>
            <a:ext cx="802615" cy="457200"/>
          </a:xfrm>
          <a:prstGeom prst="roundRect">
            <a:avLst>
              <a:gd name="adj" fmla="val 16000"/>
            </a:avLst>
          </a:prstGeom>
          <a:solidFill>
            <a:srgbClr val="F0E4C2"/>
          </a:solidFill>
          <a:ln w="9525">
            <a:solidFill>
              <a:srgbClr val="DDD4C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141568" y="5074920"/>
            <a:ext cx="80261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C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#F0E4C2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035622" y="4572000"/>
            <a:ext cx="802615" cy="457200"/>
          </a:xfrm>
          <a:prstGeom prst="roundRect">
            <a:avLst>
              <a:gd name="adj" fmla="val 16000"/>
            </a:avLst>
          </a:prstGeom>
          <a:solidFill>
            <a:srgbClr val="C9A23F"/>
          </a:solidFill>
          <a:ln w="9525">
            <a:solidFill>
              <a:srgbClr val="DDD4C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035622" y="5074920"/>
            <a:ext cx="80261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C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#C9A23F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8158277" y="1737360"/>
            <a:ext cx="3484778" cy="1600200"/>
          </a:xfrm>
          <a:prstGeom prst="roundRect">
            <a:avLst>
              <a:gd name="adj" fmla="val 4571"/>
            </a:avLst>
          </a:prstGeom>
          <a:solidFill>
            <a:srgbClr val="F5F2EA"/>
          </a:solidFill>
          <a:ln w="9525">
            <a:solidFill>
              <a:srgbClr val="DDD4C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432597" y="2697480"/>
            <a:ext cx="29361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Crema</a:t>
            </a:r>
            <a:endParaRPr lang="en-US" sz="2000" dirty="0"/>
          </a:p>
        </p:txBody>
      </p:sp>
      <p:sp>
        <p:nvSpPr>
          <p:cNvPr id="30" name="Text 28"/>
          <p:cNvSpPr txBox="1"/>
          <p:nvPr/>
        </p:nvSpPr>
        <p:spPr>
          <a:xfrm>
            <a:off x="8158277" y="3474720"/>
            <a:ext cx="34847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HEX #F5F2EA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 245 · 242 · 234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8158277" y="3959352"/>
            <a:ext cx="34847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Fondo de contenido y texto sobre fondos oscuros.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158277" y="4572000"/>
            <a:ext cx="802615" cy="457200"/>
          </a:xfrm>
          <a:prstGeom prst="roundRect">
            <a:avLst>
              <a:gd name="adj" fmla="val 16000"/>
            </a:avLst>
          </a:prstGeom>
          <a:solidFill>
            <a:srgbClr val="FBFAF6"/>
          </a:solidFill>
          <a:ln w="9525">
            <a:solidFill>
              <a:srgbClr val="DDD4C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158277" y="5074920"/>
            <a:ext cx="80261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C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#FBFAF6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9052331" y="4572000"/>
            <a:ext cx="802615" cy="457200"/>
          </a:xfrm>
          <a:prstGeom prst="roundRect">
            <a:avLst>
              <a:gd name="adj" fmla="val 16000"/>
            </a:avLst>
          </a:prstGeom>
          <a:solidFill>
            <a:srgbClr val="EAE4D6"/>
          </a:solidFill>
          <a:ln w="9525">
            <a:solidFill>
              <a:srgbClr val="DDD4C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052331" y="5074920"/>
            <a:ext cx="80261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C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#EAE4D6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9946386" y="4572000"/>
            <a:ext cx="802615" cy="457200"/>
          </a:xfrm>
          <a:prstGeom prst="roundRect">
            <a:avLst>
              <a:gd name="adj" fmla="val 16000"/>
            </a:avLst>
          </a:prstGeom>
          <a:solidFill>
            <a:srgbClr val="DDD4C0"/>
          </a:solidFill>
          <a:ln w="9525">
            <a:solidFill>
              <a:srgbClr val="DDD4C0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9946386" y="5074920"/>
            <a:ext cx="80261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C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#DDD4C0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0840441" y="4572000"/>
            <a:ext cx="802615" cy="457200"/>
          </a:xfrm>
          <a:prstGeom prst="roundRect">
            <a:avLst>
              <a:gd name="adj" fmla="val 16000"/>
            </a:avLst>
          </a:prstGeom>
          <a:solidFill>
            <a:srgbClr val="F5F2EA"/>
          </a:solidFill>
          <a:ln w="9525">
            <a:solidFill>
              <a:srgbClr val="DDD4C0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10840441" y="5074920"/>
            <a:ext cx="80261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C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#F5F2EA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548640" y="55321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Proporción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2011680" y="5532120"/>
            <a:ext cx="5778825" cy="320040"/>
          </a:xfrm>
          <a:prstGeom prst="rect">
            <a:avLst/>
          </a:prstGeom>
          <a:solidFill>
            <a:srgbClr val="EAE4D6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2011680" y="5532120"/>
            <a:ext cx="577882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Crema 60 %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790505" y="5532120"/>
            <a:ext cx="2889413" cy="3200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7790505" y="5532120"/>
            <a:ext cx="288941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Azul oscuro 30 %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10679918" y="5532120"/>
            <a:ext cx="963138" cy="320040"/>
          </a:xfrm>
          <a:prstGeom prst="rect">
            <a:avLst/>
          </a:prstGeom>
          <a:solidFill>
            <a:srgbClr val="C9A23F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10679918" y="5532120"/>
            <a:ext cx="9631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10 %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26364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8A6A1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1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A6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GUÍA DE ESTILOS · 3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1323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Retícula, márgenes y uso del logo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852160" cy="3291840"/>
          </a:xfrm>
          <a:prstGeom prst="rect">
            <a:avLst/>
          </a:prstGeom>
          <a:solidFill>
            <a:srgbClr val="FBFAF6"/>
          </a:solidFill>
          <a:ln w="9525">
            <a:solidFill>
              <a:srgbClr val="DDD4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1994" y="1934875"/>
            <a:ext cx="5325452" cy="2962730"/>
          </a:xfrm>
          <a:prstGeom prst="rect">
            <a:avLst/>
          </a:prstGeom>
          <a:solidFill>
            <a:srgbClr val="FBFAF6"/>
          </a:solidFill>
          <a:ln w="12700">
            <a:solidFill>
              <a:srgbClr val="C9A23F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811994" y="1934875"/>
            <a:ext cx="1005840" cy="109728"/>
          </a:xfrm>
          <a:prstGeom prst="rect">
            <a:avLst/>
          </a:prstGeom>
          <a:solidFill>
            <a:srgbClr val="F0E4C2"/>
          </a:solidFill>
          <a:ln/>
        </p:spPr>
      </p:sp>
      <p:sp>
        <p:nvSpPr>
          <p:cNvPr id="7" name="Shape 5"/>
          <p:cNvSpPr/>
          <p:nvPr/>
        </p:nvSpPr>
        <p:spPr>
          <a:xfrm>
            <a:off x="811994" y="2088498"/>
            <a:ext cx="2926080" cy="274320"/>
          </a:xfrm>
          <a:prstGeom prst="rect">
            <a:avLst/>
          </a:prstGeom>
          <a:solidFill>
            <a:srgbClr val="9EA2AA"/>
          </a:solidFill>
          <a:ln/>
        </p:spPr>
      </p:sp>
      <p:sp>
        <p:nvSpPr>
          <p:cNvPr id="8" name="Shape 6"/>
          <p:cNvSpPr/>
          <p:nvPr/>
        </p:nvSpPr>
        <p:spPr>
          <a:xfrm>
            <a:off x="811994" y="2571314"/>
            <a:ext cx="5325452" cy="2019046"/>
          </a:xfrm>
          <a:prstGeom prst="rect">
            <a:avLst/>
          </a:prstGeom>
          <a:solidFill>
            <a:srgbClr val="EAE4D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11994" y="2571314"/>
            <a:ext cx="5325452" cy="20190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 de contenido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11994" y="474398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C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Pie de página</a:t>
            </a:r>
            <a:endParaRPr lang="en-US" sz="700" dirty="0"/>
          </a:p>
        </p:txBody>
      </p:sp>
      <p:pic>
        <p:nvPicPr>
          <p:cNvPr id="11" name="Image 0" descr="/tmp/claude-0/-home-user-recetario/0dcb6c97-6a11-53d3-b186-0e5b69111646/scratchpad/logo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20469" y="4722036"/>
            <a:ext cx="416977" cy="195397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548640" y="521208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5C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Márgenes laterales: 0,6"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5C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Etiqueta 0,45" · Título 0,78" · Contenido de 1,9" a 6,5"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5C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Separación entre bloques: 0,3" o 0,35"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6858000" y="1737360"/>
            <a:ext cx="47850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Uso del logo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6858000" y="2240280"/>
            <a:ext cx="2255368" cy="1234440"/>
          </a:xfrm>
          <a:prstGeom prst="roundRect">
            <a:avLst>
              <a:gd name="adj" fmla="val 5926"/>
            </a:avLst>
          </a:prstGeom>
          <a:solidFill>
            <a:srgbClr val="FBFAF6"/>
          </a:solidFill>
          <a:ln w="9525">
            <a:solidFill>
              <a:srgbClr val="DDD4C0"/>
            </a:solidFill>
            <a:prstDash val="solid"/>
          </a:ln>
        </p:spPr>
      </p:sp>
      <p:pic>
        <p:nvPicPr>
          <p:cNvPr id="15" name="Image 1" descr="/tmp/claude-0/-home-user-recetario/0dcb6c97-6a11-53d3-b186-0e5b69111646/scratchpad/logo_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8444" y="2493283"/>
            <a:ext cx="1554480" cy="728435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9387688" y="2240280"/>
            <a:ext cx="2255368" cy="1234440"/>
          </a:xfrm>
          <a:prstGeom prst="roundRect">
            <a:avLst>
              <a:gd name="adj" fmla="val 5926"/>
            </a:avLst>
          </a:prstGeom>
          <a:solidFill>
            <a:srgbClr val="1B2A4A"/>
          </a:solidFill>
          <a:ln/>
        </p:spPr>
      </p:sp>
      <p:pic>
        <p:nvPicPr>
          <p:cNvPr id="17" name="Image 2" descr="/tmp/claude-0/-home-user-recetario/0dcb6c97-6a11-53d3-b186-0e5b69111646/scratchpad/logo_d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8131" y="2493283"/>
            <a:ext cx="1554480" cy="72843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858000" y="3566160"/>
            <a:ext cx="2255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Fondos claros: versión azul</a:t>
            </a:r>
            <a:endParaRPr lang="en-US" sz="1100" dirty="0"/>
          </a:p>
        </p:txBody>
      </p:sp>
      <p:sp>
        <p:nvSpPr>
          <p:cNvPr id="19" name="Text 14"/>
          <p:cNvSpPr txBox="1"/>
          <p:nvPr/>
        </p:nvSpPr>
        <p:spPr>
          <a:xfrm>
            <a:off x="9387688" y="3566160"/>
            <a:ext cx="2255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Fondos oscuros: versión blanca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6858000" y="4069080"/>
            <a:ext cx="478505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Posición fija: esquina inferior derecha, 0,95" de ancho.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Dejar libre alrededor un espacio igual a la altura de la «P».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deformar, recolorear, girar ni aplicar sombras.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ubicar sobre fotografías sin un fondo sólido.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26364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8A6A1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1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28016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0" b="1" dirty="0">
                <a:solidFill>
                  <a:srgbClr val="C9A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0632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Título de la sección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97764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9EA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frase breve que presente lo que se abordará en este bloque de la charla.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26364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C9A23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1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A6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TABLAS · BÁSICA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1323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Etapas del concurso de méritos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740664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1554480"/>
                <a:gridCol w="1554480"/>
                <a:gridCol w="12801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5F2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Etapa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D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5F2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Responsable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D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5F2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Fecha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D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5F2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Estado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D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Convocatoria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D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Entidad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D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Semana 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D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Cumplido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D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Inscripción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D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Aspirante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D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Semanas 2–3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D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Cumplido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D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Verificación de requisitos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D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Operador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D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Semana 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D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8A6A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curso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D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Pruebas escritas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D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Operador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D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Semana 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D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C66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Pendiente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D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Lista de elegibles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D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CNSC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D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Semana 14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D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C66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Pendiente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D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489204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cronograma de referencia. Reemplace con los datos de su convocatoria.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8321040" y="1737360"/>
            <a:ext cx="3322015" cy="3017520"/>
          </a:xfrm>
          <a:prstGeom prst="roundRect">
            <a:avLst>
              <a:gd name="adj" fmla="val 2424"/>
            </a:avLst>
          </a:prstGeom>
          <a:solidFill>
            <a:srgbClr val="1B2A4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641080" y="2057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 CLAVE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8641080" y="2423160"/>
            <a:ext cx="26819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semanas</a:t>
            </a:r>
            <a:endParaRPr lang="en-US" sz="3600" dirty="0"/>
          </a:p>
        </p:txBody>
      </p:sp>
      <p:sp>
        <p:nvSpPr>
          <p:cNvPr id="9" name="Text 6"/>
          <p:cNvSpPr txBox="1"/>
          <p:nvPr/>
        </p:nvSpPr>
        <p:spPr>
          <a:xfrm>
            <a:off x="8641080" y="3246120"/>
            <a:ext cx="26819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AE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Duración estimada desde la convocatoria hasta la publicación de la lista de elegibles.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26364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8A6A1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1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A6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TABLAS · AVANZADA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1323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Matriz de evaluación por criterios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94415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097280"/>
                <a:gridCol w="1463040"/>
                <a:gridCol w="1463040"/>
                <a:gridCol w="1463040"/>
                <a:gridCol w="2499055"/>
              </a:tblGrid>
              <a:tr h="429768">
                <a:tc rowSpan="2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5F2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Criterio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D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5F2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Peso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D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5F2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Puntaje por aspirante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D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rowSpan="2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5F2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Observaciones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D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29768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Aspirante 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D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4C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Aspirante 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D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4C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Aspirante 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D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4C2"/>
                    </a:solidFill>
                  </a:tcPr>
                </a:tc>
                <a:tc vMerge="1">
                  <a:tcPr/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Competencias básicas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D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D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D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D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4C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D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C66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Eliminatoria (mín. 65)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D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Prueba comportamental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D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D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D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D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D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4C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C66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Clasificatoria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D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A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Educación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D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D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D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D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4C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D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C66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Títulos adicionales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D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Experiencia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D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D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D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4C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D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D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C66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Relacionada y profesional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D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A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Entrevista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D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D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D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4C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D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D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C66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 aplica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D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5F2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Puntaje ponderado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D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5F2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D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5F2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79,5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D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5F2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80,0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D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5F2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74,8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D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27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AE4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Resultado final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D4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270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440680"/>
            <a:ext cx="274320" cy="201168"/>
          </a:xfrm>
          <a:prstGeom prst="rect">
            <a:avLst/>
          </a:prstGeom>
          <a:solidFill>
            <a:srgbClr val="F0E4C2"/>
          </a:solidFill>
          <a:ln w="9525">
            <a:solidFill>
              <a:srgbClr val="DDD4C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960120" y="542239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 puntaje por criterio. Puntaje ponderado = Σ (puntaje × peso). Datos de ejemplo.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26364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8A6A1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1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A6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DIAGRAMAS · FLUJO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1323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Flujo de verificación de requisitos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1371600" cy="731520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37744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Inicio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476195" y="228600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FBFAF6"/>
          </a:solidFill>
          <a:ln w="9525">
            <a:solidFill>
              <a:srgbClr val="9EA2A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567635" y="22860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Recepción de documentos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43830" y="2057400"/>
            <a:ext cx="2103120" cy="1371600"/>
          </a:xfrm>
          <a:prstGeom prst="diamond">
            <a:avLst/>
          </a:prstGeom>
          <a:solidFill>
            <a:srgbClr val="C9A23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55310" y="228600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¿Cumple requisitos?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702906" y="228600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FBFAF6"/>
          </a:solidFill>
          <a:ln w="9525">
            <a:solidFill>
              <a:srgbClr val="9EA2A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94346" y="22860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Admitido a pruebas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271455" y="2377440"/>
            <a:ext cx="1371600" cy="731520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271455" y="237744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965960" y="2743200"/>
            <a:ext cx="464515" cy="0"/>
          </a:xfrm>
          <a:prstGeom prst="line">
            <a:avLst/>
          </a:prstGeom>
          <a:noFill/>
          <a:ln w="19050">
            <a:solidFill>
              <a:srgbClr val="1B2A4A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533595" y="2743200"/>
            <a:ext cx="464515" cy="0"/>
          </a:xfrm>
          <a:prstGeom prst="line">
            <a:avLst/>
          </a:prstGeom>
          <a:noFill/>
          <a:ln w="19050">
            <a:solidFill>
              <a:srgbClr val="1B2A4A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192670" y="2743200"/>
            <a:ext cx="464515" cy="0"/>
          </a:xfrm>
          <a:prstGeom prst="line">
            <a:avLst/>
          </a:prstGeom>
          <a:noFill/>
          <a:ln w="19050">
            <a:solidFill>
              <a:srgbClr val="1B2A4A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760306" y="2743200"/>
            <a:ext cx="465430" cy="0"/>
          </a:xfrm>
          <a:prstGeom prst="line">
            <a:avLst/>
          </a:prstGeom>
          <a:noFill/>
          <a:ln w="19050">
            <a:solidFill>
              <a:srgbClr val="1B2A4A"/>
            </a:solidFill>
            <a:prstDash val="solid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7146950" y="23774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A6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095390" y="3456432"/>
            <a:ext cx="0" cy="704088"/>
          </a:xfrm>
          <a:prstGeom prst="line">
            <a:avLst/>
          </a:prstGeom>
          <a:noFill/>
          <a:ln w="19050">
            <a:solidFill>
              <a:srgbClr val="1B2A4A"/>
            </a:solidFill>
            <a:prstDash val="solid"/>
            <a:tailEnd type="triangle"/>
          </a:ln>
        </p:spPr>
      </p:sp>
      <p:sp>
        <p:nvSpPr>
          <p:cNvPr id="20" name="Text 18"/>
          <p:cNvSpPr txBox="1"/>
          <p:nvPr/>
        </p:nvSpPr>
        <p:spPr>
          <a:xfrm>
            <a:off x="6205118" y="3611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8A6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89550" y="420624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EAE4D6"/>
          </a:solidFill>
          <a:ln w="9525">
            <a:solidFill>
              <a:srgbClr val="9EA2A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180990" y="42062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Subsanación y reclamación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482035" y="4663440"/>
            <a:ext cx="1607515" cy="0"/>
          </a:xfrm>
          <a:prstGeom prst="line">
            <a:avLst/>
          </a:prstGeom>
          <a:noFill/>
          <a:ln w="19050">
            <a:solidFill>
              <a:srgbClr val="1B2A4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V="1">
            <a:off x="3482035" y="3246120"/>
            <a:ext cx="0" cy="1417320"/>
          </a:xfrm>
          <a:prstGeom prst="line">
            <a:avLst/>
          </a:prstGeom>
          <a:noFill/>
          <a:ln w="19050">
            <a:solidFill>
              <a:srgbClr val="1B2A4A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48640" y="5486400"/>
            <a:ext cx="411480" cy="228600"/>
          </a:xfrm>
          <a:prstGeom prst="roundRect">
            <a:avLst>
              <a:gd name="adj" fmla="val 48000"/>
            </a:avLst>
          </a:prstGeom>
          <a:solidFill>
            <a:srgbClr val="1B2A4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051560" y="54864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 / fin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377440" y="5486400"/>
            <a:ext cx="411480" cy="228600"/>
          </a:xfrm>
          <a:prstGeom prst="rect">
            <a:avLst/>
          </a:prstGeom>
          <a:solidFill>
            <a:srgbClr val="FBFAF6"/>
          </a:solidFill>
          <a:ln w="9525">
            <a:solidFill>
              <a:srgbClr val="9EA2A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880360" y="54864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023360" y="5440680"/>
            <a:ext cx="411480" cy="320040"/>
          </a:xfrm>
          <a:prstGeom prst="diamond">
            <a:avLst/>
          </a:prstGeom>
          <a:solidFill>
            <a:srgbClr val="C9A23F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4526280" y="54864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26364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8A6A1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1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A6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DIAGRAMAS · ORGANIGRAMA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1323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Estructura del equipo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724705" y="1737360"/>
            <a:ext cx="2743200" cy="777240"/>
          </a:xfrm>
          <a:prstGeom prst="roundRect">
            <a:avLst>
              <a:gd name="adj" fmla="val 9412"/>
            </a:avLst>
          </a:prstGeom>
          <a:solidFill>
            <a:srgbClr val="1B2A4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816145" y="173736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Dirección general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E0C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y apellido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095848" y="2514600"/>
            <a:ext cx="0" cy="274320"/>
          </a:xfrm>
          <a:prstGeom prst="line">
            <a:avLst/>
          </a:prstGeom>
          <a:noFill/>
          <a:ln w="12700">
            <a:solidFill>
              <a:srgbClr val="5C667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2788920"/>
            <a:ext cx="7802575" cy="0"/>
          </a:xfrm>
          <a:prstGeom prst="line">
            <a:avLst/>
          </a:prstGeom>
          <a:noFill/>
          <a:ln w="12700">
            <a:solidFill>
              <a:srgbClr val="5C667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94560" y="2788920"/>
            <a:ext cx="0" cy="274320"/>
          </a:xfrm>
          <a:prstGeom prst="line">
            <a:avLst/>
          </a:prstGeom>
          <a:noFill/>
          <a:ln w="12700">
            <a:solidFill>
              <a:srgbClr val="5C667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3063240"/>
            <a:ext cx="3291840" cy="731520"/>
          </a:xfrm>
          <a:prstGeom prst="roundRect">
            <a:avLst>
              <a:gd name="adj" fmla="val 10000"/>
            </a:avLst>
          </a:prstGeom>
          <a:solidFill>
            <a:srgbClr val="C9A23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30632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Área académica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y apellido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194560" y="3794760"/>
            <a:ext cx="0" cy="274320"/>
          </a:xfrm>
          <a:prstGeom prst="line">
            <a:avLst/>
          </a:prstGeom>
          <a:noFill/>
          <a:ln w="12700">
            <a:solidFill>
              <a:srgbClr val="5C667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25880" y="4069080"/>
            <a:ext cx="1737360" cy="0"/>
          </a:xfrm>
          <a:prstGeom prst="line">
            <a:avLst/>
          </a:prstGeom>
          <a:noFill/>
          <a:ln w="12700">
            <a:solidFill>
              <a:srgbClr val="5C667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25880" y="4069080"/>
            <a:ext cx="0" cy="274320"/>
          </a:xfrm>
          <a:prstGeom prst="line">
            <a:avLst/>
          </a:prstGeom>
          <a:noFill/>
          <a:ln w="12700">
            <a:solidFill>
              <a:srgbClr val="5C667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4343400"/>
            <a:ext cx="1554480" cy="868680"/>
          </a:xfrm>
          <a:prstGeom prst="roundRect">
            <a:avLst>
              <a:gd name="adj" fmla="val 8421"/>
            </a:avLst>
          </a:prstGeom>
          <a:solidFill>
            <a:srgbClr val="FBFAF6"/>
          </a:solidFill>
          <a:ln w="9525">
            <a:solidFill>
              <a:srgbClr val="DDD4C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434340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Coordinación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C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063240" y="4069080"/>
            <a:ext cx="0" cy="274320"/>
          </a:xfrm>
          <a:prstGeom prst="line">
            <a:avLst/>
          </a:prstGeom>
          <a:noFill/>
          <a:ln w="12700">
            <a:solidFill>
              <a:srgbClr val="5C667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86000" y="4343400"/>
            <a:ext cx="1554480" cy="868680"/>
          </a:xfrm>
          <a:prstGeom prst="roundRect">
            <a:avLst>
              <a:gd name="adj" fmla="val 8421"/>
            </a:avLst>
          </a:prstGeom>
          <a:solidFill>
            <a:srgbClr val="FBFAF6"/>
          </a:solidFill>
          <a:ln w="9525">
            <a:solidFill>
              <a:srgbClr val="DDD4C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377440" y="434340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Docencia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C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096305" y="2788920"/>
            <a:ext cx="0" cy="274320"/>
          </a:xfrm>
          <a:prstGeom prst="line">
            <a:avLst/>
          </a:prstGeom>
          <a:noFill/>
          <a:ln w="12700">
            <a:solidFill>
              <a:srgbClr val="5C667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450385" y="3063240"/>
            <a:ext cx="3291840" cy="731520"/>
          </a:xfrm>
          <a:prstGeom prst="roundRect">
            <a:avLst>
              <a:gd name="adj" fmla="val 10000"/>
            </a:avLst>
          </a:prstGeom>
          <a:solidFill>
            <a:srgbClr val="C9A23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541825" y="30632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Área técnica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y apellido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096305" y="3794760"/>
            <a:ext cx="0" cy="274320"/>
          </a:xfrm>
          <a:prstGeom prst="line">
            <a:avLst/>
          </a:prstGeom>
          <a:noFill/>
          <a:ln w="12700">
            <a:solidFill>
              <a:srgbClr val="5C667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227625" y="4069080"/>
            <a:ext cx="1737360" cy="0"/>
          </a:xfrm>
          <a:prstGeom prst="line">
            <a:avLst/>
          </a:prstGeom>
          <a:noFill/>
          <a:ln w="12700">
            <a:solidFill>
              <a:srgbClr val="5C667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227625" y="4069080"/>
            <a:ext cx="0" cy="274320"/>
          </a:xfrm>
          <a:prstGeom prst="line">
            <a:avLst/>
          </a:prstGeom>
          <a:noFill/>
          <a:ln w="12700">
            <a:solidFill>
              <a:srgbClr val="5C667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50385" y="4343400"/>
            <a:ext cx="1554480" cy="868680"/>
          </a:xfrm>
          <a:prstGeom prst="roundRect">
            <a:avLst>
              <a:gd name="adj" fmla="val 8421"/>
            </a:avLst>
          </a:prstGeom>
          <a:solidFill>
            <a:srgbClr val="FBFAF6"/>
          </a:solidFill>
          <a:ln w="9525">
            <a:solidFill>
              <a:srgbClr val="DDD4C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541825" y="434340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Pruebas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C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964985" y="4069080"/>
            <a:ext cx="0" cy="274320"/>
          </a:xfrm>
          <a:prstGeom prst="line">
            <a:avLst/>
          </a:prstGeom>
          <a:noFill/>
          <a:ln w="12700">
            <a:solidFill>
              <a:srgbClr val="5C667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87745" y="4343400"/>
            <a:ext cx="1554480" cy="868680"/>
          </a:xfrm>
          <a:prstGeom prst="roundRect">
            <a:avLst>
              <a:gd name="adj" fmla="val 8421"/>
            </a:avLst>
          </a:prstGeom>
          <a:solidFill>
            <a:srgbClr val="FBFAF6"/>
          </a:solidFill>
          <a:ln w="9525">
            <a:solidFill>
              <a:srgbClr val="DDD4C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279185" y="434340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Análisis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C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9997135" y="2788920"/>
            <a:ext cx="0" cy="274320"/>
          </a:xfrm>
          <a:prstGeom prst="line">
            <a:avLst/>
          </a:prstGeom>
          <a:noFill/>
          <a:ln w="12700">
            <a:solidFill>
              <a:srgbClr val="5C667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351215" y="3063240"/>
            <a:ext cx="3291840" cy="731520"/>
          </a:xfrm>
          <a:prstGeom prst="roundRect">
            <a:avLst>
              <a:gd name="adj" fmla="val 10000"/>
            </a:avLst>
          </a:prstGeom>
          <a:solidFill>
            <a:srgbClr val="C9A23F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442655" y="30632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Área de gestión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y apellido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9997135" y="3794760"/>
            <a:ext cx="0" cy="274320"/>
          </a:xfrm>
          <a:prstGeom prst="line">
            <a:avLst/>
          </a:prstGeom>
          <a:noFill/>
          <a:ln w="12700">
            <a:solidFill>
              <a:srgbClr val="5C667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128455" y="4069080"/>
            <a:ext cx="1737360" cy="0"/>
          </a:xfrm>
          <a:prstGeom prst="line">
            <a:avLst/>
          </a:prstGeom>
          <a:noFill/>
          <a:ln w="12700">
            <a:solidFill>
              <a:srgbClr val="5C667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128455" y="4069080"/>
            <a:ext cx="0" cy="274320"/>
          </a:xfrm>
          <a:prstGeom prst="line">
            <a:avLst/>
          </a:prstGeom>
          <a:noFill/>
          <a:ln w="12700">
            <a:solidFill>
              <a:srgbClr val="5C667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351215" y="4343400"/>
            <a:ext cx="1554480" cy="868680"/>
          </a:xfrm>
          <a:prstGeom prst="roundRect">
            <a:avLst>
              <a:gd name="adj" fmla="val 8421"/>
            </a:avLst>
          </a:prstGeom>
          <a:solidFill>
            <a:srgbClr val="FBFAF6"/>
          </a:solidFill>
          <a:ln w="9525">
            <a:solidFill>
              <a:srgbClr val="DDD4C0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442655" y="434340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Comunicaciones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C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10865815" y="4069080"/>
            <a:ext cx="0" cy="274320"/>
          </a:xfrm>
          <a:prstGeom prst="line">
            <a:avLst/>
          </a:prstGeom>
          <a:noFill/>
          <a:ln w="12700">
            <a:solidFill>
              <a:srgbClr val="5C667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088575" y="4343400"/>
            <a:ext cx="1554480" cy="868680"/>
          </a:xfrm>
          <a:prstGeom prst="roundRect">
            <a:avLst>
              <a:gd name="adj" fmla="val 8421"/>
            </a:avLst>
          </a:prstGeom>
          <a:solidFill>
            <a:srgbClr val="FBFAF6"/>
          </a:solidFill>
          <a:ln w="9525">
            <a:solidFill>
              <a:srgbClr val="DDD4C0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10180015" y="434340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Atención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C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26364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8A6A1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1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A6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DIAGRAMAS · PROCESO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1323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Ruta de preparación en cinco pasos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286000" cy="1005840"/>
          </a:xfrm>
          <a:prstGeom prst="homePlate">
            <a:avLst/>
          </a:prstGeom>
          <a:solidFill>
            <a:srgbClr val="0F1A3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874520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31546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Diagnóstico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3566160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el empleo, el nivel y los requisitos de la OPEC.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50515" y="1874520"/>
            <a:ext cx="2286000" cy="1005840"/>
          </a:xfrm>
          <a:prstGeom prst="chevron">
            <a:avLst/>
          </a:prstGeom>
          <a:solidFill>
            <a:srgbClr val="1B2A4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253435" y="1874520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2796235" y="31546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Documentación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796235" y="3566160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Organizar certificados de estudio y experiencia.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952390" y="1874520"/>
            <a:ext cx="2286000" cy="1005840"/>
          </a:xfrm>
          <a:prstGeom prst="chevron">
            <a:avLst/>
          </a:prstGeom>
          <a:solidFill>
            <a:srgbClr val="2D427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55310" y="1874520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4998110" y="31546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Estudio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998110" y="3566160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repaso por ejes temáticos de la convocatoria.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154266" y="1874520"/>
            <a:ext cx="2286000" cy="1005840"/>
          </a:xfrm>
          <a:prstGeom prst="chevron">
            <a:avLst/>
          </a:prstGeom>
          <a:solidFill>
            <a:srgbClr val="5C667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57186" y="1874520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7199986" y="31546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Simulacros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199986" y="3566160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cronometradas y análisis de resultados.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356141" y="1874520"/>
            <a:ext cx="2286000" cy="1005840"/>
          </a:xfrm>
          <a:prstGeom prst="chevron">
            <a:avLst/>
          </a:prstGeom>
          <a:solidFill>
            <a:srgbClr val="C9A23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859061" y="1874520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9401861" y="31546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Presentación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9401861" y="3566160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Logística del día de la prueba y control de ansiedad.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5074920"/>
            <a:ext cx="11094415" cy="822960"/>
          </a:xfrm>
          <a:prstGeom prst="roundRect">
            <a:avLst>
              <a:gd name="adj" fmla="val 8889"/>
            </a:avLst>
          </a:prstGeom>
          <a:solidFill>
            <a:srgbClr val="EAE4D6"/>
          </a:solidFill>
          <a:ln/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5276088"/>
            <a:ext cx="411480" cy="411480"/>
          </a:xfrm>
          <a:prstGeom prst="rect">
            <a:avLst/>
          </a:prstGeom>
        </p:spPr>
      </p:pic>
      <p:sp>
        <p:nvSpPr>
          <p:cNvPr id="26" name="Text 23"/>
          <p:cNvSpPr txBox="1"/>
          <p:nvPr/>
        </p:nvSpPr>
        <p:spPr>
          <a:xfrm>
            <a:off x="1508760" y="507492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esperado: </a:t>
            </a:r>
            <a:pPr indent="0" marL="0">
              <a:buNone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aspirante preparado para superar cada etapa del concurso.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26364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8A6A1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1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A6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LÍNEAS DE TIEMPO · HORIZONTAL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1323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Cronograma de la convocatoria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3246120"/>
            <a:ext cx="11094415" cy="0"/>
          </a:xfrm>
          <a:prstGeom prst="line">
            <a:avLst/>
          </a:prstGeom>
          <a:noFill/>
          <a:ln w="25400">
            <a:solidFill>
              <a:srgbClr val="1B2A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90472" y="3090672"/>
            <a:ext cx="310896" cy="310896"/>
          </a:xfrm>
          <a:prstGeom prst="ellipse">
            <a:avLst/>
          </a:prstGeom>
          <a:solidFill>
            <a:srgbClr val="C9A23F"/>
          </a:solidFill>
          <a:ln w="38100">
            <a:solidFill>
              <a:srgbClr val="F5F2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22860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6576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Apertura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406908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Publicación del acuerdo de convocatoria.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715207" y="3090672"/>
            <a:ext cx="310896" cy="310896"/>
          </a:xfrm>
          <a:prstGeom prst="ellipse">
            <a:avLst/>
          </a:prstGeom>
          <a:solidFill>
            <a:srgbClr val="C9A23F"/>
          </a:solidFill>
          <a:ln w="38100">
            <a:solidFill>
              <a:srgbClr val="F5F2E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864815" y="22860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2864815" y="36576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Inscripciones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910535" y="406908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y pago en la plataforma.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866790" y="3017520"/>
            <a:ext cx="457200" cy="457200"/>
          </a:xfrm>
          <a:prstGeom prst="ellipse">
            <a:avLst/>
          </a:prstGeom>
          <a:solidFill>
            <a:srgbClr val="1B2A4A"/>
          </a:solidFill>
          <a:ln w="38100">
            <a:solidFill>
              <a:srgbClr val="F5F2E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89550" y="22860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A6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5089550" y="36576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Verificación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135270" y="406908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de requisitos mínimos.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164678" y="3090672"/>
            <a:ext cx="310896" cy="310896"/>
          </a:xfrm>
          <a:prstGeom prst="ellipse">
            <a:avLst/>
          </a:prstGeom>
          <a:solidFill>
            <a:srgbClr val="C9A23F"/>
          </a:solidFill>
          <a:ln w="38100">
            <a:solidFill>
              <a:srgbClr val="F5F2E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14286" y="22860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7314286" y="36576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Pruebas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7360006" y="406908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de pruebas escritas.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0389413" y="3090672"/>
            <a:ext cx="310896" cy="310896"/>
          </a:xfrm>
          <a:prstGeom prst="ellipse">
            <a:avLst/>
          </a:prstGeom>
          <a:solidFill>
            <a:srgbClr val="C9A23F"/>
          </a:solidFill>
          <a:ln w="38100">
            <a:solidFill>
              <a:srgbClr val="F5F2E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539021" y="22860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</a:t>
            </a:r>
            <a:endParaRPr lang="en-US" sz="2400" dirty="0"/>
          </a:p>
        </p:txBody>
      </p:sp>
      <p:sp>
        <p:nvSpPr>
          <p:cNvPr id="23" name="Text 21"/>
          <p:cNvSpPr txBox="1"/>
          <p:nvPr/>
        </p:nvSpPr>
        <p:spPr>
          <a:xfrm>
            <a:off x="9539021" y="36576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Elegibles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9584741" y="406908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Publicación de la lista final.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5486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100" dirty="0">
                <a:solidFill>
                  <a:srgbClr val="5C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Hito actual    </a:t>
            </a:r>
            <a:pPr indent="0" marL="0">
              <a:buNone/>
            </a:pPr>
            <a:r>
              <a:rPr lang="en-US" sz="1100" dirty="0">
                <a:solidFill>
                  <a:srgbClr val="C9A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100" dirty="0">
                <a:solidFill>
                  <a:srgbClr val="5C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Hito programado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26364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8A6A1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1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A6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LÍNEAS DE TIEMPO · VERTICAL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1323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Hitos del proceso de formación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Semana a semana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9456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este formato cuando cada hito requiera más texto o cuando la charla siga una secuencia cronológica.</a:t>
            </a:r>
            <a:endParaRPr lang="en-US" sz="1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154680"/>
            <a:ext cx="3931920" cy="2743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94960" y="1874520"/>
            <a:ext cx="0" cy="3886200"/>
          </a:xfrm>
          <a:prstGeom prst="line">
            <a:avLst/>
          </a:prstGeom>
          <a:noFill/>
          <a:ln w="25400">
            <a:solidFill>
              <a:srgbClr val="9EA2A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248656" y="1801368"/>
            <a:ext cx="292608" cy="292608"/>
          </a:xfrm>
          <a:prstGeom prst="ellipse">
            <a:avLst/>
          </a:prstGeom>
          <a:solidFill>
            <a:srgbClr val="C9A23F"/>
          </a:solidFill>
          <a:ln w="38100">
            <a:solidFill>
              <a:srgbClr val="F5F2E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806440" y="17830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6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Semana 1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7360920" y="1764792"/>
            <a:ext cx="42821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Inducción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7360920" y="2148840"/>
            <a:ext cx="42821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del programa, objetivos y metodología.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248656" y="2852928"/>
            <a:ext cx="292608" cy="292608"/>
          </a:xfrm>
          <a:prstGeom prst="ellipse">
            <a:avLst/>
          </a:prstGeom>
          <a:solidFill>
            <a:srgbClr val="C9A23F"/>
          </a:solidFill>
          <a:ln w="38100">
            <a:solidFill>
              <a:srgbClr val="F5F2E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806440" y="28346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6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Semana 2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7360920" y="2816352"/>
            <a:ext cx="42821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Marco normativo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7360920" y="3200400"/>
            <a:ext cx="42821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Ley de carrera administrativa y acuerdos de convocatoria.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248656" y="3904488"/>
            <a:ext cx="292608" cy="292608"/>
          </a:xfrm>
          <a:prstGeom prst="ellipse">
            <a:avLst/>
          </a:prstGeom>
          <a:solidFill>
            <a:srgbClr val="C9A23F"/>
          </a:solidFill>
          <a:ln w="38100">
            <a:solidFill>
              <a:srgbClr val="F5F2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806440" y="38862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6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Semana 3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7360920" y="3867912"/>
            <a:ext cx="42821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Competencias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7360920" y="4251960"/>
            <a:ext cx="42821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pruebas funcionales y comportamentales.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5248656" y="4956048"/>
            <a:ext cx="292608" cy="292608"/>
          </a:xfrm>
          <a:prstGeom prst="ellipse">
            <a:avLst/>
          </a:prstGeom>
          <a:solidFill>
            <a:srgbClr val="1B2A4A"/>
          </a:solidFill>
          <a:ln w="38100">
            <a:solidFill>
              <a:srgbClr val="F5F2E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806440" y="49377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6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Semana 4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7360920" y="4919472"/>
            <a:ext cx="42821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Simulacro final</a:t>
            </a:r>
            <a:endParaRPr lang="en-US" sz="1700" dirty="0"/>
          </a:p>
        </p:txBody>
      </p:sp>
      <p:sp>
        <p:nvSpPr>
          <p:cNvPr id="23" name="Text 20"/>
          <p:cNvSpPr txBox="1"/>
          <p:nvPr/>
        </p:nvSpPr>
        <p:spPr>
          <a:xfrm>
            <a:off x="7360920" y="5303520"/>
            <a:ext cx="42821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integral con retroalimentación personalizada.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26364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8A6A1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1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A6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GALERÍA · TRES IMÁGENES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1323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Experiencias de nuestras sesiones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37360"/>
            <a:ext cx="3484778" cy="2788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4709160"/>
            <a:ext cx="34847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Título de la imagen 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120640"/>
            <a:ext cx="34847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Breve descripción o pie de foto de una o dos líneas.</a:t>
            </a:r>
            <a:endParaRPr lang="en-US" sz="13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3458" y="1737360"/>
            <a:ext cx="3484778" cy="27889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353458" y="4709160"/>
            <a:ext cx="34847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Título de la imagen 2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4353458" y="5120640"/>
            <a:ext cx="34847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Breve descripción o pie de foto de una o dos líneas.</a:t>
            </a:r>
            <a:endParaRPr lang="en-US" sz="13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8277" y="1737360"/>
            <a:ext cx="3484778" cy="278892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8158277" y="4709160"/>
            <a:ext cx="34847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Título de la imagen 3</a:t>
            </a:r>
            <a:endParaRPr lang="en-US" sz="1600" dirty="0"/>
          </a:p>
        </p:txBody>
      </p:sp>
      <p:sp>
        <p:nvSpPr>
          <p:cNvPr id="12" name="Text 7"/>
          <p:cNvSpPr txBox="1"/>
          <p:nvPr/>
        </p:nvSpPr>
        <p:spPr>
          <a:xfrm>
            <a:off x="8158277" y="5120640"/>
            <a:ext cx="34847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Breve descripción o pie de foto de una o dos líneas.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26364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8A6A1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1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A6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GALERÍA · MOSAICO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1323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 fotográfico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37360"/>
            <a:ext cx="6035040" cy="42062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" y="5212080"/>
            <a:ext cx="3291840" cy="502920"/>
          </a:xfrm>
          <a:prstGeom prst="roundRect">
            <a:avLst>
              <a:gd name="adj" fmla="val 14545"/>
            </a:avLst>
          </a:prstGeom>
          <a:solidFill>
            <a:srgbClr val="1B2A4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60120" y="52120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 de la imagen principal</a:t>
            </a:r>
            <a:endParaRPr lang="en-US" sz="13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737360"/>
            <a:ext cx="2255368" cy="1965960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7688" y="1737360"/>
            <a:ext cx="2255368" cy="1965960"/>
          </a:xfrm>
          <a:prstGeom prst="rect">
            <a:avLst/>
          </a:prstGeom>
        </p:spPr>
      </p:pic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3977640"/>
            <a:ext cx="2255368" cy="1965960"/>
          </a:xfrm>
          <a:prstGeom prst="rect">
            <a:avLst/>
          </a:prstGeom>
        </p:spPr>
      </p:pic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87688" y="3977640"/>
            <a:ext cx="2255368" cy="19659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26364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8A6A1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1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A6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LISTAS · PUNTOS CLAVE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1323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Nuestros pilares de trabajo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87188" cy="1943100"/>
          </a:xfrm>
          <a:prstGeom prst="roundRect">
            <a:avLst>
              <a:gd name="adj" fmla="val 3765"/>
            </a:avLst>
          </a:prstGeom>
          <a:solidFill>
            <a:srgbClr val="FBFAF6"/>
          </a:solidFill>
          <a:ln w="9525">
            <a:solidFill>
              <a:srgbClr val="EAE4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103120"/>
            <a:ext cx="777240" cy="77724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8710" y="2297430"/>
            <a:ext cx="388620" cy="3886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965960" y="2121408"/>
            <a:ext cx="36498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Confianza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1965960" y="2560320"/>
            <a:ext cx="36498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Acompañamiento transparente y ético en cada etapa del proceso de selección.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55868" y="1737360"/>
            <a:ext cx="5387188" cy="1943100"/>
          </a:xfrm>
          <a:prstGeom prst="roundRect">
            <a:avLst>
              <a:gd name="adj" fmla="val 3765"/>
            </a:avLst>
          </a:prstGeom>
          <a:solidFill>
            <a:srgbClr val="FBFAF6"/>
          </a:solidFill>
          <a:ln w="9525">
            <a:solidFill>
              <a:srgbClr val="EAE4D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621628" y="2103120"/>
            <a:ext cx="777240" cy="77724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5938" y="2297430"/>
            <a:ext cx="388620" cy="3886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673188" y="2121408"/>
            <a:ext cx="36498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Excelencia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7673188" y="2560320"/>
            <a:ext cx="36498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Contenidos actualizados y docentes con experiencia en concursos públicos.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548640" y="4000500"/>
            <a:ext cx="5387188" cy="1943100"/>
          </a:xfrm>
          <a:prstGeom prst="roundRect">
            <a:avLst>
              <a:gd name="adj" fmla="val 3765"/>
            </a:avLst>
          </a:prstGeom>
          <a:solidFill>
            <a:srgbClr val="FBFAF6"/>
          </a:solidFill>
          <a:ln w="9525">
            <a:solidFill>
              <a:srgbClr val="EAE4D6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14400" y="4366260"/>
            <a:ext cx="777240" cy="77724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710" y="4560570"/>
            <a:ext cx="388620" cy="38862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965960" y="4384548"/>
            <a:ext cx="36498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Crecimiento</a:t>
            </a:r>
            <a:endParaRPr lang="en-US" sz="2000" dirty="0"/>
          </a:p>
        </p:txBody>
      </p:sp>
      <p:sp>
        <p:nvSpPr>
          <p:cNvPr id="18" name="Text 13"/>
          <p:cNvSpPr txBox="1"/>
          <p:nvPr/>
        </p:nvSpPr>
        <p:spPr>
          <a:xfrm>
            <a:off x="1965960" y="4823460"/>
            <a:ext cx="36498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 del progreso de cada aspirante con metas medibles.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6255868" y="4000500"/>
            <a:ext cx="5387188" cy="1943100"/>
          </a:xfrm>
          <a:prstGeom prst="roundRect">
            <a:avLst>
              <a:gd name="adj" fmla="val 3765"/>
            </a:avLst>
          </a:prstGeom>
          <a:solidFill>
            <a:srgbClr val="FBFAF6"/>
          </a:solidFill>
          <a:ln w="9525">
            <a:solidFill>
              <a:srgbClr val="EAE4D6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621628" y="4366260"/>
            <a:ext cx="777240" cy="77724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5938" y="4560570"/>
            <a:ext cx="388620" cy="38862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673188" y="4384548"/>
            <a:ext cx="36498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Enfoque técnico</a:t>
            </a:r>
            <a:endParaRPr lang="en-US" sz="2000" dirty="0"/>
          </a:p>
        </p:txBody>
      </p:sp>
      <p:sp>
        <p:nvSpPr>
          <p:cNvPr id="23" name="Text 17"/>
          <p:cNvSpPr txBox="1"/>
          <p:nvPr/>
        </p:nvSpPr>
        <p:spPr>
          <a:xfrm>
            <a:off x="7673188" y="4823460"/>
            <a:ext cx="36498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 basada en los ejes temáticos oficiales de cada convocatoria.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26364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8A6A1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1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A6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LISTAS · VIÑETAS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1323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Recomendaciones para la prueba escrita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28016" cy="128016"/>
          </a:xfrm>
          <a:prstGeom prst="rect">
            <a:avLst/>
          </a:prstGeom>
          <a:solidFill>
            <a:srgbClr val="C9A23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73736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 la pregunta completa </a:t>
            </a:r>
            <a:pPr indent="0" marL="0">
              <a:buNone/>
            </a:pPr>
            <a:r>
              <a:rPr lang="en-US" sz="18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revisar las opciones de respuesta.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28016" cy="128016"/>
          </a:xfrm>
          <a:prstGeom prst="rect">
            <a:avLst/>
          </a:prstGeom>
          <a:solidFill>
            <a:srgbClr val="C9A23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256032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Administre el tiempo: </a:t>
            </a:r>
            <a:pPr indent="0" marL="0">
              <a:buNone/>
            </a:pPr>
            <a:r>
              <a:rPr lang="en-US" sz="18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calcule cuántos minutos tiene por pregunta.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3474720"/>
            <a:ext cx="128016" cy="128016"/>
          </a:xfrm>
          <a:prstGeom prst="rect">
            <a:avLst/>
          </a:prstGeom>
          <a:solidFill>
            <a:srgbClr val="C9A23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14400" y="338328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Identifique palabras clave </a:t>
            </a:r>
            <a:pPr indent="0" marL="0">
              <a:buNone/>
            </a:pPr>
            <a:r>
              <a:rPr lang="en-US" sz="18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«excepto», «siempre» o «nunca».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4297680"/>
            <a:ext cx="128016" cy="128016"/>
          </a:xfrm>
          <a:prstGeom prst="rect">
            <a:avLst/>
          </a:prstGeom>
          <a:solidFill>
            <a:srgbClr val="C9A23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14400" y="420624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Responda primero lo que sabe </a:t>
            </a:r>
            <a:pPr indent="0" marL="0">
              <a:buNone/>
            </a:pPr>
            <a:r>
              <a:rPr lang="en-US" sz="18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regrese luego a las preguntas difíciles.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5120640"/>
            <a:ext cx="128016" cy="128016"/>
          </a:xfrm>
          <a:prstGeom prst="rect">
            <a:avLst/>
          </a:prstGeom>
          <a:solidFill>
            <a:srgbClr val="C9A23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4400" y="502920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 la hoja de respuestas </a:t>
            </a:r>
            <a:pPr indent="0" marL="0">
              <a:buNone/>
            </a:pPr>
            <a:r>
              <a:rPr lang="en-US" sz="18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entregar.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80960" y="1737360"/>
            <a:ext cx="3962095" cy="4206240"/>
          </a:xfrm>
          <a:prstGeom prst="roundRect">
            <a:avLst>
              <a:gd name="adj" fmla="val 1846"/>
            </a:avLst>
          </a:prstGeom>
          <a:solidFill>
            <a:srgbClr val="1B2A4A"/>
          </a:solidFill>
          <a:ln/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2103120"/>
            <a:ext cx="457200" cy="457200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8046720" y="2743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 CLAVE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8046720" y="3108960"/>
            <a:ext cx="323057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preparación constante supera a la memorización de última hora.</a:t>
            </a:r>
            <a:endParaRPr lang="en-US" sz="2200" dirty="0"/>
          </a:p>
        </p:txBody>
      </p:sp>
      <p:sp>
        <p:nvSpPr>
          <p:cNvPr id="18" name="Text 15"/>
          <p:cNvSpPr txBox="1"/>
          <p:nvPr/>
        </p:nvSpPr>
        <p:spPr>
          <a:xfrm>
            <a:off x="8046720" y="5212080"/>
            <a:ext cx="32305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EA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Refuerce esta idea al cierre del bloque.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26364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8A6A1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1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A6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COMPARATIVAS · DOS ELEMENTOS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1323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Preparación individual vs. acompañada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295748" cy="4206240"/>
          </a:xfrm>
          <a:prstGeom prst="roundRect">
            <a:avLst>
              <a:gd name="adj" fmla="val 1739"/>
            </a:avLst>
          </a:prstGeom>
          <a:solidFill>
            <a:srgbClr val="EAE4D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05840" y="2148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A6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OPCIÓN A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468880"/>
            <a:ext cx="43813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Estudio individual</a:t>
            </a:r>
            <a:endParaRPr lang="en-US" sz="2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3355848"/>
            <a:ext cx="237744" cy="23774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17320" y="3291840"/>
            <a:ext cx="39698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Horarios flexibles</a:t>
            </a:r>
            <a:endParaRPr lang="en-US" sz="16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922776"/>
            <a:ext cx="237744" cy="23774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17320" y="3858768"/>
            <a:ext cx="39698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disperso y sin filtro</a:t>
            </a:r>
            <a:endParaRPr lang="en-US" sz="16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4489704"/>
            <a:ext cx="237744" cy="23774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417320" y="4425696"/>
            <a:ext cx="39698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retroalimentación de simulacros</a:t>
            </a:r>
            <a:endParaRPr lang="en-US" sz="16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5056632"/>
            <a:ext cx="237744" cy="237744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417320" y="4992624"/>
            <a:ext cx="39698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 costo inicial</a:t>
            </a:r>
            <a:endParaRPr lang="en-US" sz="1600" dirty="0"/>
          </a:p>
        </p:txBody>
      </p:sp>
      <p:sp>
        <p:nvSpPr>
          <p:cNvPr id="15" name="Shape 9"/>
          <p:cNvSpPr/>
          <p:nvPr/>
        </p:nvSpPr>
        <p:spPr>
          <a:xfrm>
            <a:off x="6347308" y="1737360"/>
            <a:ext cx="5295748" cy="4206240"/>
          </a:xfrm>
          <a:prstGeom prst="roundRect">
            <a:avLst>
              <a:gd name="adj" fmla="val 1739"/>
            </a:avLst>
          </a:prstGeom>
          <a:solidFill>
            <a:srgbClr val="1B2A4A"/>
          </a:solidFill>
          <a:ln/>
        </p:spPr>
      </p:sp>
      <p:sp>
        <p:nvSpPr>
          <p:cNvPr id="16" name="Text 10"/>
          <p:cNvSpPr txBox="1"/>
          <p:nvPr/>
        </p:nvSpPr>
        <p:spPr>
          <a:xfrm>
            <a:off x="6804508" y="2148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OPCIÓN B</a:t>
            </a:r>
            <a:endParaRPr lang="en-US" sz="1100" dirty="0"/>
          </a:p>
        </p:txBody>
      </p:sp>
      <p:sp>
        <p:nvSpPr>
          <p:cNvPr id="17" name="Text 11"/>
          <p:cNvSpPr txBox="1"/>
          <p:nvPr/>
        </p:nvSpPr>
        <p:spPr>
          <a:xfrm>
            <a:off x="6804508" y="2468880"/>
            <a:ext cx="43813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Acompañamiento MVPG</a:t>
            </a:r>
            <a:endParaRPr lang="en-US" sz="24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4508" y="3355848"/>
            <a:ext cx="237744" cy="237744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7215988" y="3291840"/>
            <a:ext cx="39698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AE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estudio por convocatoria</a:t>
            </a:r>
            <a:endParaRPr lang="en-US" sz="160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04508" y="3922776"/>
            <a:ext cx="237744" cy="237744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7215988" y="3858768"/>
            <a:ext cx="39698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AE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Docentes especializados</a:t>
            </a:r>
            <a:endParaRPr lang="en-US" sz="1600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04508" y="4489704"/>
            <a:ext cx="237744" cy="237744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7215988" y="4425696"/>
            <a:ext cx="39698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AE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Simulacros con análisis de resultados</a:t>
            </a:r>
            <a:endParaRPr lang="en-US" sz="1600" dirty="0"/>
          </a:p>
        </p:txBody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04508" y="5056632"/>
            <a:ext cx="237744" cy="237744"/>
          </a:xfrm>
          <a:prstGeom prst="rect">
            <a:avLst/>
          </a:prstGeom>
        </p:spPr>
      </p:pic>
      <p:sp>
        <p:nvSpPr>
          <p:cNvPr id="25" name="Text 15"/>
          <p:cNvSpPr txBox="1"/>
          <p:nvPr/>
        </p:nvSpPr>
        <p:spPr>
          <a:xfrm>
            <a:off x="7215988" y="4992624"/>
            <a:ext cx="39698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AE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 personalizado</a:t>
            </a:r>
            <a:endParaRPr lang="en-US" sz="1600" dirty="0"/>
          </a:p>
        </p:txBody>
      </p:sp>
      <p:sp>
        <p:nvSpPr>
          <p:cNvPr id="26" name="Shape 16"/>
          <p:cNvSpPr/>
          <p:nvPr/>
        </p:nvSpPr>
        <p:spPr>
          <a:xfrm>
            <a:off x="5684368" y="3429000"/>
            <a:ext cx="822960" cy="822960"/>
          </a:xfrm>
          <a:prstGeom prst="ellipse">
            <a:avLst/>
          </a:prstGeom>
          <a:solidFill>
            <a:srgbClr val="C9A23F"/>
          </a:solidFill>
          <a:ln w="50800">
            <a:solidFill>
              <a:srgbClr val="F5F2EA"/>
            </a:solidFill>
            <a:prstDash val="solid"/>
          </a:ln>
        </p:spPr>
      </p:sp>
      <p:sp>
        <p:nvSpPr>
          <p:cNvPr id="27" name="Text 17"/>
          <p:cNvSpPr txBox="1"/>
          <p:nvPr/>
        </p:nvSpPr>
        <p:spPr>
          <a:xfrm>
            <a:off x="5684368" y="34290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26364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8A6A1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1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A6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COMPARATIVAS · TRES ELEMENTOS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1323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Modalidades de acompañamiento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484778" cy="4206240"/>
          </a:xfrm>
          <a:prstGeom prst="roundRect">
            <a:avLst>
              <a:gd name="adj" fmla="val 2099"/>
            </a:avLst>
          </a:prstGeom>
          <a:solidFill>
            <a:srgbClr val="FBFAF6"/>
          </a:solidFill>
          <a:ln w="9525">
            <a:solidFill>
              <a:srgbClr val="DDD4C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514600"/>
            <a:ext cx="27532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Básico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017520"/>
            <a:ext cx="27532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b="1" dirty="0">
                <a:solidFill>
                  <a:srgbClr val="8A6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pPr indent="0" marL="0">
              <a:buNone/>
            </a:pPr>
            <a:r>
              <a:rPr lang="en-US" sz="1400" dirty="0">
                <a:solidFill>
                  <a:srgbClr val="5C66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sesiones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914400" y="4069080"/>
            <a:ext cx="2753258" cy="0"/>
          </a:xfrm>
          <a:prstGeom prst="line">
            <a:avLst/>
          </a:prstGeom>
          <a:noFill/>
          <a:ln w="9525">
            <a:solidFill>
              <a:srgbClr val="DDD4C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4370832"/>
            <a:ext cx="201168" cy="20116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280160" y="4297680"/>
            <a:ext cx="238749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de estudio</a:t>
            </a:r>
            <a:endParaRPr lang="en-US" sz="14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828032"/>
            <a:ext cx="201168" cy="20116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280160" y="4754880"/>
            <a:ext cx="238749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simulacros</a:t>
            </a:r>
            <a:endParaRPr lang="en-US" sz="14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5285232"/>
            <a:ext cx="201168" cy="20116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80160" y="5212080"/>
            <a:ext cx="238749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Foro de dudas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4353458" y="1737360"/>
            <a:ext cx="3484778" cy="4206240"/>
          </a:xfrm>
          <a:prstGeom prst="roundRect">
            <a:avLst>
              <a:gd name="adj" fmla="val 2099"/>
            </a:avLst>
          </a:prstGeom>
          <a:solidFill>
            <a:srgbClr val="1B2A4A"/>
          </a:solidFill>
          <a:ln/>
        </p:spPr>
      </p:sp>
      <p:sp>
        <p:nvSpPr>
          <p:cNvPr id="15" name="Shape 10"/>
          <p:cNvSpPr/>
          <p:nvPr/>
        </p:nvSpPr>
        <p:spPr>
          <a:xfrm>
            <a:off x="4719218" y="205740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C9A23F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4719218" y="205740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RECOMENDADO</a:t>
            </a:r>
            <a:endParaRPr lang="en-US" sz="1000" dirty="0"/>
          </a:p>
        </p:txBody>
      </p:sp>
      <p:sp>
        <p:nvSpPr>
          <p:cNvPr id="17" name="Text 12"/>
          <p:cNvSpPr txBox="1"/>
          <p:nvPr/>
        </p:nvSpPr>
        <p:spPr>
          <a:xfrm>
            <a:off x="4719218" y="2514600"/>
            <a:ext cx="27532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Integral</a:t>
            </a:r>
            <a:endParaRPr lang="en-US" sz="2200" dirty="0"/>
          </a:p>
        </p:txBody>
      </p:sp>
      <p:sp>
        <p:nvSpPr>
          <p:cNvPr id="18" name="Text 13"/>
          <p:cNvSpPr txBox="1"/>
          <p:nvPr/>
        </p:nvSpPr>
        <p:spPr>
          <a:xfrm>
            <a:off x="4719218" y="3017520"/>
            <a:ext cx="27532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b="1" dirty="0">
                <a:solidFill>
                  <a:srgbClr val="C9A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pPr indent="0" marL="0">
              <a:buNone/>
            </a:pPr>
            <a:r>
              <a:rPr lang="en-US" sz="1400" dirty="0">
                <a:solidFill>
                  <a:srgbClr val="EAE4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sesiones</a:t>
            </a:r>
            <a:endParaRPr lang="en-US" sz="4800" dirty="0"/>
          </a:p>
        </p:txBody>
      </p:sp>
      <p:sp>
        <p:nvSpPr>
          <p:cNvPr id="19" name="Shape 14"/>
          <p:cNvSpPr/>
          <p:nvPr/>
        </p:nvSpPr>
        <p:spPr>
          <a:xfrm>
            <a:off x="4719218" y="4069080"/>
            <a:ext cx="2753258" cy="0"/>
          </a:xfrm>
          <a:prstGeom prst="line">
            <a:avLst/>
          </a:prstGeom>
          <a:noFill/>
          <a:ln w="9525">
            <a:solidFill>
              <a:srgbClr val="2D4270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9218" y="4370832"/>
            <a:ext cx="201168" cy="20116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084978" y="4297680"/>
            <a:ext cx="238749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E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+ clases en vivo</a:t>
            </a:r>
            <a:endParaRPr lang="en-US" sz="1400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9218" y="4828032"/>
            <a:ext cx="201168" cy="201168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5084978" y="4754880"/>
            <a:ext cx="238749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E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simulacros</a:t>
            </a:r>
            <a:endParaRPr lang="en-US" sz="140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19218" y="5285232"/>
            <a:ext cx="201168" cy="201168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5084978" y="5212080"/>
            <a:ext cx="238749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E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 asignado</a:t>
            </a:r>
            <a:endParaRPr lang="en-US" sz="1400" dirty="0"/>
          </a:p>
        </p:txBody>
      </p:sp>
      <p:sp>
        <p:nvSpPr>
          <p:cNvPr id="26" name="Shape 18"/>
          <p:cNvSpPr/>
          <p:nvPr/>
        </p:nvSpPr>
        <p:spPr>
          <a:xfrm>
            <a:off x="8158277" y="1737360"/>
            <a:ext cx="3484778" cy="4206240"/>
          </a:xfrm>
          <a:prstGeom prst="roundRect">
            <a:avLst>
              <a:gd name="adj" fmla="val 2099"/>
            </a:avLst>
          </a:prstGeom>
          <a:solidFill>
            <a:srgbClr val="FBFAF6"/>
          </a:solidFill>
          <a:ln w="9525">
            <a:solidFill>
              <a:srgbClr val="DDD4C0"/>
            </a:solidFill>
            <a:prstDash val="solid"/>
          </a:ln>
        </p:spPr>
      </p:sp>
      <p:sp>
        <p:nvSpPr>
          <p:cNvPr id="27" name="Text 19"/>
          <p:cNvSpPr txBox="1"/>
          <p:nvPr/>
        </p:nvSpPr>
        <p:spPr>
          <a:xfrm>
            <a:off x="8524037" y="2514600"/>
            <a:ext cx="27532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Intensivo</a:t>
            </a:r>
            <a:endParaRPr lang="en-US" sz="2200" dirty="0"/>
          </a:p>
        </p:txBody>
      </p:sp>
      <p:sp>
        <p:nvSpPr>
          <p:cNvPr id="28" name="Text 20"/>
          <p:cNvSpPr txBox="1"/>
          <p:nvPr/>
        </p:nvSpPr>
        <p:spPr>
          <a:xfrm>
            <a:off x="8524037" y="3017520"/>
            <a:ext cx="27532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b="1" dirty="0">
                <a:solidFill>
                  <a:srgbClr val="8A6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pPr indent="0" marL="0">
              <a:buNone/>
            </a:pPr>
            <a:r>
              <a:rPr lang="en-US" sz="1400" dirty="0">
                <a:solidFill>
                  <a:srgbClr val="5C66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sesiones</a:t>
            </a:r>
            <a:endParaRPr lang="en-US" sz="4800" dirty="0"/>
          </a:p>
        </p:txBody>
      </p:sp>
      <p:sp>
        <p:nvSpPr>
          <p:cNvPr id="29" name="Shape 21"/>
          <p:cNvSpPr/>
          <p:nvPr/>
        </p:nvSpPr>
        <p:spPr>
          <a:xfrm>
            <a:off x="8524037" y="4069080"/>
            <a:ext cx="2753258" cy="0"/>
          </a:xfrm>
          <a:prstGeom prst="line">
            <a:avLst/>
          </a:prstGeom>
          <a:noFill/>
          <a:ln w="9525">
            <a:solidFill>
              <a:srgbClr val="DDD4C0"/>
            </a:solidFill>
            <a:prstDash val="solid"/>
          </a:ln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24037" y="4370832"/>
            <a:ext cx="201168" cy="201168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8889797" y="4297680"/>
            <a:ext cx="238749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lo del plan integral</a:t>
            </a:r>
            <a:endParaRPr lang="en-US" sz="1400" dirty="0"/>
          </a:p>
        </p:txBody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24037" y="4828032"/>
            <a:ext cx="201168" cy="201168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8889797" y="4754880"/>
            <a:ext cx="238749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Simulacros ilimitados</a:t>
            </a:r>
            <a:endParaRPr lang="en-US" sz="1400" dirty="0"/>
          </a:p>
        </p:txBody>
      </p:sp>
      <p:pic>
        <p:nvPicPr>
          <p:cNvPr id="3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24037" y="5285232"/>
            <a:ext cx="201168" cy="201168"/>
          </a:xfrm>
          <a:prstGeom prst="rect">
            <a:avLst/>
          </a:prstGeom>
        </p:spPr>
      </p:pic>
      <p:sp>
        <p:nvSpPr>
          <p:cNvPr id="35" name="Text 24"/>
          <p:cNvSpPr txBox="1"/>
          <p:nvPr/>
        </p:nvSpPr>
        <p:spPr>
          <a:xfrm>
            <a:off x="8889797" y="5212080"/>
            <a:ext cx="238749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Entrevista de práctica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26364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8A6A1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1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914400"/>
            <a:ext cx="822960" cy="822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2057400"/>
            <a:ext cx="9601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mérito no es un privilegio: es la garantía de que el servicio público quede en manos de las personas mejor preparadas.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4572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9A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Nombre del autor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4937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EA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Cargo, institución o fuente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26364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C9A23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1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A6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DESTACADOS · CIFRAS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1323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mérito en números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920240"/>
            <a:ext cx="314949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+1.200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200400"/>
            <a:ext cx="31494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aspirantes asesorados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611880"/>
            <a:ext cx="29666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 acompañadas en procesos de selección.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246778" y="2011680"/>
            <a:ext cx="0" cy="2651760"/>
          </a:xfrm>
          <a:prstGeom prst="line">
            <a:avLst/>
          </a:prstGeom>
          <a:noFill/>
          <a:ln w="9525">
            <a:solidFill>
              <a:srgbClr val="DDD4C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58258" y="1920240"/>
            <a:ext cx="314949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8A6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87 %</a:t>
            </a:r>
            <a:endParaRPr lang="en-US" sz="6000" dirty="0"/>
          </a:p>
        </p:txBody>
      </p:sp>
      <p:sp>
        <p:nvSpPr>
          <p:cNvPr id="9" name="Text 7"/>
          <p:cNvSpPr txBox="1"/>
          <p:nvPr/>
        </p:nvSpPr>
        <p:spPr>
          <a:xfrm>
            <a:off x="4658258" y="3200400"/>
            <a:ext cx="31494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superan la prueba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658258" y="3611880"/>
            <a:ext cx="29666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Aprobación en pruebas de competencias básicas.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944917" y="2011680"/>
            <a:ext cx="0" cy="2651760"/>
          </a:xfrm>
          <a:prstGeom prst="line">
            <a:avLst/>
          </a:prstGeom>
          <a:noFill/>
          <a:ln w="9525">
            <a:solidFill>
              <a:srgbClr val="DDD4C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56397" y="1920240"/>
            <a:ext cx="314949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6000" dirty="0"/>
          </a:p>
        </p:txBody>
      </p:sp>
      <p:sp>
        <p:nvSpPr>
          <p:cNvPr id="13" name="Text 11"/>
          <p:cNvSpPr txBox="1"/>
          <p:nvPr/>
        </p:nvSpPr>
        <p:spPr>
          <a:xfrm>
            <a:off x="8356397" y="3200400"/>
            <a:ext cx="31494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convocatorias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356397" y="3611880"/>
            <a:ext cx="29666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Procesos atendidos en entidades del orden nacional y territorial.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5029200"/>
            <a:ext cx="11094415" cy="868680"/>
          </a:xfrm>
          <a:prstGeom prst="roundRect">
            <a:avLst>
              <a:gd name="adj" fmla="val 8421"/>
            </a:avLst>
          </a:prstGeom>
          <a:solidFill>
            <a:srgbClr val="1B2A4A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5230368"/>
            <a:ext cx="457200" cy="457200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1645920" y="5029200"/>
            <a:ext cx="96313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Conclusión: </a:t>
            </a:r>
            <a:pPr indent="0" marL="0">
              <a:buNone/>
            </a:pPr>
            <a:r>
              <a:rPr lang="en-US" sz="1600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preparación estructurada aumenta de forma significativa las probabilidades de éxito.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26364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8A6A1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1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A6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DESTACADOS · GRÁFICO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71323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 por tipo de prueba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57600" cy="4206240"/>
          </a:xfrm>
          <a:prstGeom prst="roundRect">
            <a:avLst>
              <a:gd name="adj" fmla="val 2000"/>
            </a:avLst>
          </a:prstGeom>
          <a:solidFill>
            <a:srgbClr val="1B2A4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21488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PROMEDIO GENERAL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51460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78,4</a:t>
            </a:r>
            <a:endParaRPr lang="en-US" sz="72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84048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AE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puntos sobre 100 en el último simulacro, 6,2 puntos por encima del simulacro anterior.</a:t>
            </a:r>
            <a:endParaRPr lang="en-US" sz="14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4572000" y="1737360"/>
          <a:ext cx="7071055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26364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8A6A1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1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recetario/0dcb6c97-6a11-53d3-b186-0e5b69111646/scratchpad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685800"/>
            <a:ext cx="2377440" cy="1114077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31520" y="224028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b="1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Gracias</a:t>
            </a:r>
            <a:endParaRPr lang="en-US" sz="64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32918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C9A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¿Preguntas?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425196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5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del docente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9EA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correo@dominio.com   ·   +57 000 000 0000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9EA2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www.mvpg.com.co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7863840" y="685800"/>
            <a:ext cx="3779215" cy="5486400"/>
          </a:xfrm>
          <a:prstGeom prst="roundRect">
            <a:avLst>
              <a:gd name="adj" fmla="val 1936"/>
            </a:avLst>
          </a:prstGeom>
          <a:solidFill>
            <a:srgbClr val="0F1A30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275320" y="10515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NUESTROS VALORES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275320" y="1600200"/>
            <a:ext cx="731520" cy="731520"/>
          </a:xfrm>
          <a:prstGeom prst="ellipse">
            <a:avLst/>
          </a:prstGeom>
          <a:solidFill>
            <a:srgbClr val="2D427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8200" y="178308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9235440" y="16002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Confianza</a:t>
            </a:r>
            <a:endParaRPr lang="en-US" sz="1700" dirty="0"/>
          </a:p>
        </p:txBody>
      </p:sp>
      <p:sp>
        <p:nvSpPr>
          <p:cNvPr id="11" name="Shape 7"/>
          <p:cNvSpPr/>
          <p:nvPr/>
        </p:nvSpPr>
        <p:spPr>
          <a:xfrm>
            <a:off x="8275320" y="2697480"/>
            <a:ext cx="731520" cy="731520"/>
          </a:xfrm>
          <a:prstGeom prst="ellipse">
            <a:avLst/>
          </a:prstGeom>
          <a:solidFill>
            <a:srgbClr val="2D4270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2880360"/>
            <a:ext cx="365760" cy="36576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9235440" y="26974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Excelencia</a:t>
            </a:r>
            <a:endParaRPr lang="en-US" sz="1700" dirty="0"/>
          </a:p>
        </p:txBody>
      </p:sp>
      <p:sp>
        <p:nvSpPr>
          <p:cNvPr id="14" name="Shape 9"/>
          <p:cNvSpPr/>
          <p:nvPr/>
        </p:nvSpPr>
        <p:spPr>
          <a:xfrm>
            <a:off x="8275320" y="3794760"/>
            <a:ext cx="731520" cy="731520"/>
          </a:xfrm>
          <a:prstGeom prst="ellipse">
            <a:avLst/>
          </a:prstGeom>
          <a:solidFill>
            <a:srgbClr val="2D4270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0" y="3977640"/>
            <a:ext cx="365760" cy="36576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9235440" y="37947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Crecimiento</a:t>
            </a:r>
            <a:endParaRPr lang="en-US" sz="1700" dirty="0"/>
          </a:p>
        </p:txBody>
      </p:sp>
      <p:sp>
        <p:nvSpPr>
          <p:cNvPr id="17" name="Shape 11"/>
          <p:cNvSpPr/>
          <p:nvPr/>
        </p:nvSpPr>
        <p:spPr>
          <a:xfrm>
            <a:off x="8275320" y="4892040"/>
            <a:ext cx="731520" cy="731520"/>
          </a:xfrm>
          <a:prstGeom prst="ellipse">
            <a:avLst/>
          </a:prstGeom>
          <a:solidFill>
            <a:srgbClr val="2D4270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8200" y="5074920"/>
            <a:ext cx="365760" cy="36576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9235440" y="48920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Enfoque técnico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MVPG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Plantilla corporativa MVPG</dc:title>
  <dc:subject>PptxGenJS Presentation</dc:subject>
  <dc:creator>MVPG – Mérito Valor Público y Gestión</dc:creator>
  <cp:lastModifiedBy>MVPG – Mérito Valor Público y Gestión</cp:lastModifiedBy>
  <cp:revision>1</cp:revision>
  <dcterms:created xsi:type="dcterms:W3CDTF">2026-09-30T15:15:53Z</dcterms:created>
  <dcterms:modified xsi:type="dcterms:W3CDTF">2026-09-30T15:15:53Z</dcterms:modified>
</cp:coreProperties>
</file>